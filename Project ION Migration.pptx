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Arial Black"/>
      <p:regular r:id="rId30"/>
    </p:embeddedFont>
    <p:embeddedFont>
      <p:font typeface="Lexen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regular.fnt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exen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c3e8ce18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c3e8ce1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bc3e8ce18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bc3e8ce1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bc3e8ce18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bc3e8ce1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bc3e8ce18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bc3e8ce1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bc3e8ce18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bc3e8ce1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bc3e8ce18_0_3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bc3e8ce18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bc3e8ce18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bc3e8ce1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14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35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28.png"/><Relationship Id="rId13" Type="http://schemas.openxmlformats.org/officeDocument/2006/relationships/image" Target="../media/image43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Relationship Id="rId15" Type="http://schemas.openxmlformats.org/officeDocument/2006/relationships/image" Target="../media/image42.png"/><Relationship Id="rId14" Type="http://schemas.openxmlformats.org/officeDocument/2006/relationships/image" Target="../media/image38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juspay.png"/>
          <p:cNvPicPr preferRelativeResize="0"/>
          <p:nvPr/>
        </p:nvPicPr>
        <p:blipFill rotWithShape="1">
          <a:blip r:embed="rId3">
            <a:alphaModFix/>
          </a:blip>
          <a:srcRect b="0" l="4725" r="5095" t="0"/>
          <a:stretch/>
        </p:blipFill>
        <p:spPr>
          <a:xfrm>
            <a:off x="997493" y="1767638"/>
            <a:ext cx="5937582" cy="207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4890585"/>
            <a:ext cx="1160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</a:t>
            </a: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MECHANICAL ENGINEERING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5555309"/>
            <a:ext cx="1160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NATIONAL INSTITUTE OF TECHNOLOGY ROURKELA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53925" y="4229580"/>
            <a:ext cx="483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Presented By :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Tafheem Ahemad (122ME0200)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5975" y="1767640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0" y="0"/>
            <a:ext cx="12192000" cy="6264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5" y="623160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47775" y="2027187"/>
            <a:ext cx="4562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Global Payments OS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 intelligent orchestration layer sitting between merchants and 300+ global processors.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47775" y="3278683"/>
            <a:ext cx="4562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Modular Integration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Unified APIs that enable local payment methods across 50+ countries instantly.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47775" y="4530179"/>
            <a:ext cx="4562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Conversion Uplift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Proven to drive 2-5% higher success rates via intelligent routing and auto-retries.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47775" y="5781675"/>
            <a:ext cx="456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Enterprise Reliability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Built on PureScript/Haskell for 99.999% uptime and zero technical declines.</a:t>
            </a:r>
            <a:endParaRPr/>
          </a:p>
        </p:txBody>
      </p:sp>
      <p:pic>
        <p:nvPicPr>
          <p:cNvPr id="100" name="Google Shape;100;p14" title="image (7).png"/>
          <p:cNvPicPr preferRelativeResize="0"/>
          <p:nvPr/>
        </p:nvPicPr>
        <p:blipFill rotWithShape="1">
          <a:blip r:embed="rId4">
            <a:alphaModFix/>
          </a:blip>
          <a:srcRect b="0" l="6679" r="7358" t="0"/>
          <a:stretch/>
        </p:blipFill>
        <p:spPr>
          <a:xfrm>
            <a:off x="6086400" y="2141800"/>
            <a:ext cx="6047626" cy="3495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0652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167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56827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8197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960387"/>
            <a:ext cx="111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UNDERSTANDING JUSPAY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0" y="0"/>
            <a:ext cx="12192000" cy="5217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4225"/>
            <a:ext cx="2057400" cy="431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1554225"/>
            <a:ext cx="2057400" cy="431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7300" y="1554225"/>
            <a:ext cx="2057400" cy="431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1625750"/>
            <a:ext cx="2057400" cy="431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3100" y="1625750"/>
            <a:ext cx="2057400" cy="43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Juspay Product Ecosystem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8018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71525" y="2468625"/>
            <a:ext cx="17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Checkout &amp; Experience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19425" y="18018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3019425" y="2468625"/>
            <a:ext cx="174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UPI &amp; Real-Time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67325" y="18734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267325" y="2540150"/>
            <a:ext cx="17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Orchestration &amp; Scale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15225" y="18734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515225" y="2540150"/>
            <a:ext cx="17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Affordability &amp; Credit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3125" y="18734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763125" y="2540150"/>
            <a:ext cx="17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Operations &amp; Backend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1062" y="19257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14400" y="3183000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Breeze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1-click checkout for D2C brands.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3929670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HyperCheckout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Fully managed SDK for all platforms.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14400" y="4676341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Express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Custom-built checkout orchestration.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1825" y="19257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3162300" y="3125850"/>
            <a:ext cx="151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HyperUPI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In-app, native UPI SDK.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162300" y="3872520"/>
            <a:ext cx="151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UPI 360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Full-stack acquiring for banks.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162300" y="4619191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Autopay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Recurring mandates infrastructure.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91150" y="1925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5410200" y="3254525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Hyperswitch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Open-source global orchestrator.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410200" y="4001195"/>
            <a:ext cx="151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Tokenization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Card security &amp; vaulting.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410200" y="4747866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Juspay Safe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2FA automation &amp; security browser.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39050" y="1997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7658100" y="3254525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HyperCredit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Instant credit &amp; NBFC orchestration.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658100" y="4001195"/>
            <a:ext cx="151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EMI Suite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 &amp; No-cost EMI mgmt.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658100" y="4747866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Offers Engine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merchant &amp; bank offers.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86950" y="1997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9906000" y="3254525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Reconciliation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3-way money tracking.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906000" y="4001195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Payouts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Bulk disbursements &amp; instant refunds.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906000" y="4747866"/>
            <a:ext cx="1514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Deep-dive success rate dashboards.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0" y="0"/>
            <a:ext cx="12192000" cy="4155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75" y="6419400"/>
            <a:ext cx="12192000" cy="4386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0" y="20955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3400" y="1759148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762000" y="2262336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Frictionless Experience</a:t>
            </a:r>
            <a:endParaRPr/>
          </a:p>
        </p:txBody>
      </p:sp>
      <p:pic>
        <p:nvPicPr>
          <p:cNvPr id="156" name="Google Shape;156;p16" title="breeze.png"/>
          <p:cNvPicPr preferRelativeResize="0"/>
          <p:nvPr/>
        </p:nvPicPr>
        <p:blipFill rotWithShape="1">
          <a:blip r:embed="rId5">
            <a:alphaModFix/>
          </a:blip>
          <a:srcRect b="0" l="5862" r="5862" t="0"/>
          <a:stretch/>
        </p:blipFill>
        <p:spPr>
          <a:xfrm>
            <a:off x="6603925" y="1949112"/>
            <a:ext cx="4603900" cy="39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143000" y="2776686"/>
            <a:ext cx="4667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Pre-filled Intel:</a:t>
            </a:r>
            <a:r>
              <a:rPr b="0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Automated retrieval of addresses and contact details.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143000" y="3698527"/>
            <a:ext cx="4667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Unified Interface:</a:t>
            </a:r>
            <a:r>
              <a:rPr b="0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 consistent, brand-aware overlay replacing redirects.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143000" y="4620369"/>
            <a:ext cx="4667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Conversion Engine:</a:t>
            </a:r>
            <a:r>
              <a:rPr b="0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Built to eliminate Top-of-Funnel intent drop-offs.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962025" y="828725"/>
            <a:ext cx="1095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Breeze 1-Click Checkout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77668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9852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620369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0" y="0"/>
            <a:ext cx="12192000" cy="5217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75" y="623160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02842"/>
            <a:ext cx="352425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75" y="2502842"/>
            <a:ext cx="352425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502842"/>
            <a:ext cx="352425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122561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5CC8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b="1" i="0" lang="en-US" sz="2850" u="none" cap="none" strike="noStrike">
                <a:solidFill>
                  <a:srgbClr val="005CC8"/>
                </a:solidFill>
                <a:latin typeface="Poppins"/>
                <a:ea typeface="Poppins"/>
                <a:cs typeface="Poppins"/>
                <a:sym typeface="Poppins"/>
              </a:rPr>
              <a:t>Mission: Project ION Migration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9312" y="279811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398508" y="3645842"/>
            <a:ext cx="187023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Legacy Migration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66775" y="420781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Moving from Hyper-widget (PureScript) to Svelte (ION) for better performance.</a:t>
            </a:r>
            <a:endParaRPr/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1687" y="279811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5230891" y="3645842"/>
            <a:ext cx="17302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PCI Compliance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4629150" y="420781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Transitioning to Juspay native domain for full data security compliance.</a:t>
            </a:r>
            <a:endParaRPr/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4062" y="279811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9393316" y="3645842"/>
            <a:ext cx="9301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UX Fixes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391525" y="420781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Solving UI breakage, iframe loading delays, and overall checkout load times.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0" y="0"/>
            <a:ext cx="12192000" cy="6264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5" y="623160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8467" y="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D634C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2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My Contribution 01: PCI-Compliant Automated CI/CD Pipeline</a:t>
            </a:r>
            <a:endParaRPr b="1" sz="2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0" y="6409267"/>
            <a:ext cx="12192000" cy="4488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D63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321722" y="776175"/>
            <a:ext cx="11071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To replace manual deployment interventions with a structured, end-to-end automated pipeline. This system facilitates the secure publishing of TypeScript-based modules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while maintaining strict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compliance.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331500" y="1837075"/>
            <a:ext cx="11368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Workflow 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Module Orchestration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 TypeScript architecture manages the dual-publishing of NPM packages and Web Components.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Automated Provisioning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Jenkin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scripts eliminate manual database lookups by automating data extraction and mapping.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Continuous Integration: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Every build undergoes transpilation, dependency isolation, and build verification before moving to the publishing phase.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331500" y="4049750"/>
            <a:ext cx="115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Benifits: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Scalability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Automated module publishing for the ION architecture.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Transitioned legacy widgets to a modern, scannable CSV-reported workflow for team review.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Security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Automated scanning for Cardholder Data (CHD) leaks during the compliance audit stage.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457675" y="5250350"/>
            <a:ext cx="104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: Done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8467" y="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D634C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n-US" sz="2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My Contribution 02: Add DOTP Module</a:t>
            </a:r>
            <a:endParaRPr b="1" sz="2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0" y="6409267"/>
            <a:ext cx="12192000" cy="4488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D63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331500" y="870975"/>
            <a:ext cx="11368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Problem Statement: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External Redirects: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Traditional flows redirect users to external bank pages for OTP entry, introducing critical latency.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Transaction Attrition: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Redirects serve as a primary cause for user drop-offs, negatively impacting success rates and user trust.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251100" y="2231325"/>
            <a:ext cx="1152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Workflow: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Capture: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Instead of redirecting the user to a bank-hosted URL, the ION-native module renders an input field directly in the merchant's checkout session.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Trigger: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Upon entering the OTP, the frontend initiates a secure </a:t>
            </a:r>
            <a:r>
              <a:rPr lang="en-US" sz="18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request to a dedicated backend endpoint.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Proxying: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backend API acts as a secure intermediary, communicating directly with the Issuer’s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Control Server (ACS)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the 3DS 2.0 protocol (JSON-based) rather than the legacy 1.0 redirect method.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470050" y="5534875"/>
            <a:ext cx="104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: Done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31500" y="4082125"/>
            <a:ext cx="10848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Benifits: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Conversion Optimization: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Maximizes transaction success rates by replacing high-latency bank redirects with a native, on-page OTP flow.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Man-in-the-Middle attacks through unique session tokens and end-to-end encryption within a PCI-compliant architecture.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title="image (6).png"/>
          <p:cNvPicPr preferRelativeResize="0"/>
          <p:nvPr/>
        </p:nvPicPr>
        <p:blipFill rotWithShape="1">
          <a:blip r:embed="rId3">
            <a:alphaModFix/>
          </a:blip>
          <a:srcRect b="17118" l="0" r="0" t="17118"/>
          <a:stretch/>
        </p:blipFill>
        <p:spPr>
          <a:xfrm>
            <a:off x="1251875" y="1011455"/>
            <a:ext cx="4180550" cy="517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title="dotp.png"/>
          <p:cNvPicPr preferRelativeResize="0"/>
          <p:nvPr/>
        </p:nvPicPr>
        <p:blipFill rotWithShape="1">
          <a:blip r:embed="rId4">
            <a:alphaModFix/>
          </a:blip>
          <a:srcRect b="35676" l="1560" r="-1560" t="3057"/>
          <a:stretch/>
        </p:blipFill>
        <p:spPr>
          <a:xfrm>
            <a:off x="6436825" y="916600"/>
            <a:ext cx="3968624" cy="52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0" y="0"/>
            <a:ext cx="12192000" cy="6264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Old Flow                                           New Flow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75" y="6580800"/>
            <a:ext cx="12192000" cy="2772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8467" y="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D634C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2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My Contribution 03: </a:t>
            </a:r>
            <a:r>
              <a:rPr b="1" lang="en-US" sz="2700">
                <a:solidFill>
                  <a:srgbClr val="FFFFFF"/>
                </a:solidFill>
              </a:rPr>
              <a:t>EMI Flow Integration</a:t>
            </a:r>
            <a:endParaRPr b="1" sz="2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0" y="6409267"/>
            <a:ext cx="12192000" cy="4488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D63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21722" y="776175"/>
            <a:ext cx="11071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650">
                <a:solidFill>
                  <a:srgbClr val="333333"/>
                </a:solidFill>
                <a:highlight>
                  <a:srgbClr val="FFFFFF"/>
                </a:highlight>
              </a:rPr>
              <a:t>Seamlessly transition the EMI processing engine to the post-migration card infrastructure to eliminate legacy dependencies, ensure schema parity, and maintain high-availability transaction success rates across the checkout ecosystem.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321725" y="2017850"/>
            <a:ext cx="11368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Workflow 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</a:rPr>
              <a:t>API &amp; Schema Integration:</a:t>
            </a:r>
            <a:r>
              <a:rPr lang="en-US" sz="1500">
                <a:solidFill>
                  <a:srgbClr val="333333"/>
                </a:solidFill>
                <a:highlight>
                  <a:srgbClr val="FFFFFF"/>
                </a:highlight>
              </a:rPr>
              <a:t> Map new card identifiers (tokens/fingerprints) to the EMI engine, replacing all legacy data-store calls with updated flow endpoints.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</a:rPr>
              <a:t>Logic Refactoring: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333333"/>
                </a:solidFill>
                <a:highlight>
                  <a:srgbClr val="FFFFFF"/>
                </a:highlight>
              </a:rPr>
              <a:t>Update eligibility and subvention modules to ensure interest-bearing and no-cost EMI plans correctly trigger for migrated BIN ranges.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</a:rPr>
              <a:t>Validation &amp; Cutover: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333333"/>
                </a:solidFill>
                <a:highlight>
                  <a:srgbClr val="FFFFFF"/>
                </a:highlight>
              </a:rPr>
              <a:t>Execute shadow runs to verify interest calculation parity, followed by a canary deployment to monitor real-time transaction success rates.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31500" y="4049750"/>
            <a:ext cx="11529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Benifits: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Elimination of Technical Debt: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Decommissioning legacy card tables removes the overhead of maintaining redundant data stores and prevents "stale data" synchronization issues during EMI tenure calculations.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Future-Proofing &amp; Security: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Native integration with the new flow ensures the EMI service automatically inherits updated security protocols, such as network tokenization and enhanced 3DS2 authentication.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44975" y="5665850"/>
            <a:ext cx="104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: Ongoing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05000"/>
            <a:ext cx="33654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1905000"/>
            <a:ext cx="33654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905000"/>
            <a:ext cx="33654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762000" y="952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D2"/>
                </a:solidFill>
                <a:latin typeface="Lexend"/>
                <a:ea typeface="Lexend"/>
                <a:cs typeface="Lexend"/>
                <a:sym typeface="Lexend"/>
              </a:rPr>
              <a:t>Upcoming Tasks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057275" y="2238375"/>
            <a:ext cx="277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SKU OFFERS</a:t>
            </a:r>
            <a:endParaRPr b="1"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1057275" y="2495550"/>
            <a:ext cx="291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rPr>
              <a:t>Offer Logic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1057275" y="2971800"/>
            <a:ext cx="2775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Enable Product SKU-based offer logic to empower merchant marketing campaigns.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1057275" y="5419725"/>
            <a:ext cx="277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6D2"/>
                </a:solidFill>
                <a:latin typeface="Inter"/>
                <a:ea typeface="Inter"/>
                <a:cs typeface="Inter"/>
                <a:sym typeface="Inter"/>
              </a:rPr>
              <a:t>Impact: High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708475" y="2238375"/>
            <a:ext cx="277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EMI FLOW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708475" y="2495550"/>
            <a:ext cx="291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rPr>
              <a:t>Juspay Optimization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708475" y="3026813"/>
            <a:ext cx="2775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Fix Juspay decline alerts via txn eligibility to increase transaction success rates.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708475" y="5419725"/>
            <a:ext cx="277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6D2"/>
                </a:solidFill>
                <a:latin typeface="Inter"/>
                <a:ea typeface="Inter"/>
                <a:cs typeface="Inter"/>
                <a:sym typeface="Inter"/>
              </a:rPr>
              <a:t>Impact: </a:t>
            </a:r>
            <a:r>
              <a:rPr b="1" lang="en-US" sz="1200">
                <a:solidFill>
                  <a:srgbClr val="0056D2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359675" y="2238375"/>
            <a:ext cx="277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SURCHARGE UI</a:t>
            </a:r>
            <a:endParaRPr b="1"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8359675" y="2495550"/>
            <a:ext cx="291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rPr>
              <a:t>Form &amp; Cart Sync</a:t>
            </a:r>
            <a:endParaRPr b="1" sz="2100">
              <a:solidFill>
                <a:srgbClr val="1E29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8359675" y="2971800"/>
            <a:ext cx="2775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Sync surcharge between form and mini cart to ensure absolute pricing transparency.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8359675" y="5419725"/>
            <a:ext cx="277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6D2"/>
                </a:solidFill>
                <a:latin typeface="Inter"/>
                <a:ea typeface="Inter"/>
                <a:cs typeface="Inter"/>
                <a:sym typeface="Inter"/>
              </a:rPr>
              <a:t>Impact: </a:t>
            </a:r>
            <a:r>
              <a:rPr b="1" lang="en-US" sz="1200">
                <a:solidFill>
                  <a:srgbClr val="0056D2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0" y="0"/>
            <a:ext cx="12192000" cy="6264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5" y="623160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57375"/>
            <a:ext cx="106680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52700"/>
            <a:ext cx="10668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81400"/>
            <a:ext cx="3365450" cy="2864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3200" y="3581400"/>
            <a:ext cx="3365450" cy="2864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3581400"/>
            <a:ext cx="3365599" cy="2864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8500" y="2552700"/>
            <a:ext cx="819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38500" y="2552700"/>
            <a:ext cx="2457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762000" y="8010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 &amp; LOAD DYNAMICS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4900" y="39243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104900" y="4591050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Reduced I/O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104900" y="5067300"/>
            <a:ext cx="26796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ION uses a lightweight iframe approach compared to heavy script execution in legacy hardware environments.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56100" y="39243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4756100" y="4591050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Smaller Bundles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4756100" y="5067300"/>
            <a:ext cx="26796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Removing redundant Hyper files from the main checkout path significantly reduces overall asset weight and parsing time.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07300" y="39243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8407300" y="4591050"/>
            <a:ext cx="28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Brave Support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8407300" y="5067300"/>
            <a:ext cx="26799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Resolved specific compatibility issues that hampered performance and blocked core scripts on the Brave browser.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43012" y="40481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51350" y="40481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31125" y="404812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8187" y="4635698"/>
            <a:ext cx="3095625" cy="56956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295275" y="2284958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CC8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3466058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Project ION | Breeze Team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4548187" y="4930973"/>
            <a:ext cx="3095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National Institute of Technology Rourkela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0" y="0"/>
            <a:ext cx="12192000" cy="626400"/>
          </a:xfrm>
          <a:prstGeom prst="rect">
            <a:avLst/>
          </a:prstGeom>
          <a:solidFill>
            <a:srgbClr val="0362E2"/>
          </a:solidFill>
          <a:ln cap="flat" cmpd="sng" w="12700">
            <a:solidFill>
              <a:srgbClr val="005C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75" y="6231600"/>
            <a:ext cx="12192000" cy="626400"/>
          </a:xfrm>
          <a:prstGeom prst="rect">
            <a:avLst/>
          </a:prstGeom>
          <a:solidFill>
            <a:srgbClr val="2C8EFF"/>
          </a:solidFill>
          <a:ln cap="flat" cmpd="sng" w="127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